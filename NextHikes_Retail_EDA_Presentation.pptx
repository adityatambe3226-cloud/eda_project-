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594360"/>
            <a:ext cx="914400" cy="914400"/>
          </a:xfrm>
          <a:prstGeom prst="ellipse">
            <a:avLst/>
          </a:prstGeom>
          <a:solidFill>
            <a:srgbClr val="39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1143000"/>
            <a:ext cx="411480" cy="411480"/>
          </a:xfrm>
          <a:prstGeom prst="ellipse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12680" y="1554480"/>
            <a:ext cx="274320" cy="274320"/>
          </a:xfrm>
          <a:prstGeom prst="ellipse">
            <a:avLst/>
          </a:prstGeom>
          <a:solidFill>
            <a:srgbClr val="E8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9784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Exploratory Data Analysis</a:t>
            </a:r>
          </a:p>
          <a:p>
            <a:pPr>
              <a:defRPr sz="2800">
                <a:solidFill>
                  <a:srgbClr val="39AEC9"/>
                </a:solidFill>
              </a:defRPr>
            </a:pPr>
            <a:r>
              <a:t>of Large-Scale Retail Transaction Data</a:t>
            </a:r>
          </a:p>
          <a:p>
            <a:pPr>
              <a:defRPr sz="1600">
                <a:solidFill>
                  <a:srgbClr val="D7E1F0"/>
                </a:solidFill>
              </a:defRPr>
            </a:pPr>
            <a:r>
              <a:t>Using Univariate, Bivariate &amp; Multivariate Statistical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51960"/>
            <a:ext cx="256589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 err="1"/>
              <a:t>NextHikes</a:t>
            </a:r>
            <a:r>
              <a:rPr dirty="0"/>
              <a:t> IT Solutions</a:t>
            </a:r>
          </a:p>
          <a:p>
            <a:pPr>
              <a:defRPr sz="1500">
                <a:solidFill>
                  <a:srgbClr val="CDD6E4"/>
                </a:solidFill>
              </a:defRPr>
            </a:pPr>
            <a:r>
              <a:rPr dirty="0"/>
              <a:t>Presented by Aditya Tambe</a:t>
            </a:r>
          </a:p>
          <a:p>
            <a:pPr>
              <a:defRPr sz="1300">
                <a:solidFill>
                  <a:srgbClr val="AAB9CD"/>
                </a:solidFill>
              </a:defRPr>
            </a:pPr>
            <a:r>
              <a:rPr dirty="0"/>
              <a:t>25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t>1. Project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What the project studies and why EDA is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B37"/>
                </a:solidFill>
                <a:latin typeface="Aptos"/>
              </a:defRPr>
            </a:pPr>
            <a:r>
              <a:t>• Exploratory Data Analysis (EDA) summarizes, visualizes and helps understand data before predictive modeling.</a:t>
            </a:r>
          </a:p>
          <a:p>
            <a:pPr>
              <a:spcAft>
                <a:spcPts val="1000"/>
              </a:spcAft>
              <a:defRPr sz="1900">
                <a:solidFill>
                  <a:srgbClr val="232B37"/>
                </a:solidFill>
                <a:latin typeface="Aptos"/>
              </a:defRPr>
            </a:pPr>
            <a:r>
              <a:t>• The project analyzes a large retail transaction dataset using statistical and visualization techniques.</a:t>
            </a:r>
          </a:p>
          <a:p>
            <a:pPr>
              <a:spcAft>
                <a:spcPts val="1000"/>
              </a:spcAft>
              <a:defRPr sz="1900">
                <a:solidFill>
                  <a:srgbClr val="232B37"/>
                </a:solidFill>
                <a:latin typeface="Aptos"/>
              </a:defRPr>
            </a:pPr>
            <a:r>
              <a:t>• The analysis focuses on distributions, relationships between variables and unusual patterns.</a:t>
            </a:r>
          </a:p>
          <a:p>
            <a:pPr>
              <a:spcAft>
                <a:spcPts val="1000"/>
              </a:spcAft>
              <a:defRPr sz="1900">
                <a:solidFill>
                  <a:srgbClr val="232B37"/>
                </a:solidFill>
                <a:latin typeface="Aptos"/>
              </a:defRPr>
            </a:pPr>
            <a:r>
              <a:t>• The final goal is to extract statistically meaningful business insights.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t>2.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Main questions addressed by the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874519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Univariate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Study individual numerical and categorical variables.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73152" cy="1874519"/>
          </a:xfrm>
          <a:prstGeom prst="rect">
            <a:avLst/>
          </a:prstGeom>
          <a:solidFill>
            <a:srgbClr val="39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8191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Bivariate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75688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Understand relationships between two variables.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657600"/>
            <a:ext cx="73152" cy="1874519"/>
          </a:xfrm>
          <a:prstGeom prst="rect">
            <a:avLst/>
          </a:prstGeom>
          <a:solidFill>
            <a:srgbClr val="40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822191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Multivariate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15968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Study interactions among three or more variables.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65760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657600"/>
            <a:ext cx="73152" cy="1874519"/>
          </a:xfrm>
          <a:prstGeom prst="rect">
            <a:avLst/>
          </a:prstGeom>
          <a:solidFill>
            <a:srgbClr val="E8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822191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Statistics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15968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Measure correlation, skewness, kurtosis and outliers.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3564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2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t>3. 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Source document describes a 100,000-record retail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73152" cy="192024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100,000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Rows / transaction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554480"/>
            <a:ext cx="73152" cy="1920240"/>
          </a:xfrm>
          <a:prstGeom prst="rect">
            <a:avLst/>
          </a:prstGeom>
          <a:solidFill>
            <a:srgbClr val="39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71907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12848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Variables / columns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73152" cy="1920240"/>
          </a:xfrm>
          <a:prstGeom prst="rect">
            <a:avLst/>
          </a:prstGeom>
          <a:solidFill>
            <a:srgbClr val="40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71907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3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12848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Categorical, numerical and date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39" y="155448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06839" y="1554480"/>
            <a:ext cx="73152" cy="1920240"/>
          </a:xfrm>
          <a:prstGeom prst="rect">
            <a:avLst/>
          </a:prstGeom>
          <a:solidFill>
            <a:srgbClr val="E8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39" y="171907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Retail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2212848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Transaction-focused business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77639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The dataset is designed for large-scale retail transaction analysis.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The project uses the data to explore customer, product, pricing, delivery and payment-related patterns.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3564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t>4. Tools &amp; Python Libraries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Technology stack used in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78308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Pandas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2926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Data loading, manipulation, grouping and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1783080"/>
          </a:xfrm>
          <a:prstGeom prst="rect">
            <a:avLst/>
          </a:prstGeom>
          <a:solidFill>
            <a:srgbClr val="39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58191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75688"/>
            <a:ext cx="2926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Numerical operations and numeric-column selection.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1783080"/>
          </a:xfrm>
          <a:prstGeom prst="rect">
            <a:avLst/>
          </a:prstGeom>
          <a:solidFill>
            <a:srgbClr val="40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58191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Matplotlib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75688"/>
            <a:ext cx="2926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2D plots and visualization.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6616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566160"/>
            <a:ext cx="73152" cy="1783080"/>
          </a:xfrm>
          <a:prstGeom prst="rect">
            <a:avLst/>
          </a:prstGeom>
          <a:solidFill>
            <a:srgbClr val="E8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73075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Seaborn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24528"/>
            <a:ext cx="2926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Statistical plots and heatmaps.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56616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566160"/>
            <a:ext cx="73152" cy="178308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373075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SciPy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224528"/>
            <a:ext cx="2926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Statistical functionality imported for analysis.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3564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2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t>5. Data Preparation &amp; Quality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Preparing the dataset before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Load the CSV dataset with pandas.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Inspect the first five rows and understand the dataset shape and column names.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Check data types, missing values and duplicate records.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Convert order_date into proper datetime format.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Separate numerical and categorical columns for targeted analysis.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Use descriptive statistics to understand the numerical variables.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t>6. Univariate Analysis — Numerical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One variable at a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657600" cy="3383280"/>
          </a:xfrm>
          <a:prstGeom prst="round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325526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num.mean()\nnum.median()\nnum.std()\nnum.min() / num.max()\nnum.skew()\nnum.kurtosis()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417320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Mean and median describe central tendency.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Standard deviation measures spread.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Minimum and maximum show the observed range.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Skewness describes distribution asymmetry.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Kurtosis helps identify heavy tails and extreme observations.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3564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2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t>7. Univariate Analysis — Visualizations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Histograms, boxplots and categorical distributions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18288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Histograms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29967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Show how numerical values are distributed across ranges.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73152" cy="1828800"/>
          </a:xfrm>
          <a:prstGeom prst="rect">
            <a:avLst/>
          </a:prstGeom>
          <a:solidFill>
            <a:srgbClr val="39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5361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Boxplots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29967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Show median, spread and potential outliers.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371600"/>
            <a:ext cx="73152" cy="1828800"/>
          </a:xfrm>
          <a:prstGeom prst="rect">
            <a:avLst/>
          </a:prstGeom>
          <a:solidFill>
            <a:srgbClr val="40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5361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Bar 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29967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Show frequencies for categories such as product and payment types.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Categorical variables analyzed include product category, customer segment, payment method and return status.</a:t>
            </a:r>
          </a:p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The source findings report Electronics as the category with the highest transaction count and the Regular segment as the majority segment.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83564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2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t>8. Outlier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Finding unusual observations without removing them automatically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201168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IQR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29967"/>
            <a:ext cx="2880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Q1 and Q3 are used to calculate IQR; observations outside the IQR-based boundaries are flagged.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73152" cy="2011680"/>
          </a:xfrm>
          <a:prstGeom prst="rect">
            <a:avLst/>
          </a:prstGeom>
          <a:solidFill>
            <a:srgbClr val="39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53619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Boxplots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29967"/>
            <a:ext cx="2880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Visual inspection helps identify potential high or low outliers.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49039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Extreme values were observed in product_price.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High final_price outliers were associated in the source with high-quantity purchases and premium product categories.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Long delivery times were identified as operational outliers.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Outliers were not removed immediately because they may represent valid high-value transactions.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83564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2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t>9. Bivariate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Studying relationships between pairs of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178308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Product Price ↔ Final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29967"/>
            <a:ext cx="46634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Strong positive relationship reported.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73152" cy="1783080"/>
          </a:xfrm>
          <a:prstGeom prst="rect">
            <a:avLst/>
          </a:prstGeom>
          <a:solidFill>
            <a:srgbClr val="39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3619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Quantity ↔ Final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29967"/>
            <a:ext cx="46634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Strong positive relationship reported.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2044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520440"/>
            <a:ext cx="73152" cy="1783080"/>
          </a:xfrm>
          <a:prstGeom prst="rect">
            <a:avLst/>
          </a:prstGeom>
          <a:solidFill>
            <a:srgbClr val="40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68503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Age ↔ Spending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78808"/>
            <a:ext cx="46634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Weak correlation reported.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52044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520440"/>
            <a:ext cx="73152" cy="1783080"/>
          </a:xfrm>
          <a:prstGeom prst="rect">
            <a:avLst/>
          </a:prstGeom>
          <a:solidFill>
            <a:srgbClr val="E8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68503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Delivery Days ↔ Return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78808"/>
            <a:ext cx="46634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Slight positive correlation reported after encoding.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3564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2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t>10. Correlation Matrix &amp; 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Numerical relationships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4160520" cy="2011680"/>
          </a:xfrm>
          <a:prstGeom prst="round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645919"/>
            <a:ext cx="375818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corr = num.corr()\nsns.heatmap(corr, annot=True, cmap="Blues")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371600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The heatmap displays correlation values for numerical variables.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The source reports strong positive correlation of final_price with product_price and quantity.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discount_percentage is reported as negatively correlated with final_price / revenue per unit.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delivery_days has low correlation with spending.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No multicollinearity issues were detected among independent features in the source document.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3564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2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t>11. Numerical vs Categorical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Comparing numerical outcomes across business 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18288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Customer 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29967"/>
            <a:ext cx="2926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Average final price was grouped by customer segment.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73152" cy="1828800"/>
          </a:xfrm>
          <a:prstGeom prst="rect">
            <a:avLst/>
          </a:prstGeom>
          <a:solidFill>
            <a:srgbClr val="39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53619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Product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29967"/>
            <a:ext cx="2926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Average final price was grouped by product category.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7160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371600"/>
            <a:ext cx="73152" cy="1828800"/>
          </a:xfrm>
          <a:prstGeom prst="rect">
            <a:avLst/>
          </a:prstGeom>
          <a:solidFill>
            <a:srgbClr val="40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53619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Shipping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29967"/>
            <a:ext cx="2926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Average delivery days were compared across shipping types.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The source reports higher average spending for Premium customers.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Electronics had slightly higher return rates.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Express shipping reduced delivery days significantly.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83564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2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t>12. Multivariate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Understanding interactions among three or more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29718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Category × Discount × Final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2926079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Electronics with moderate discounts generated the highest revenue, according to the source findings.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33756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2971800"/>
          </a:xfrm>
          <a:prstGeom prst="rect">
            <a:avLst/>
          </a:prstGeom>
          <a:solidFill>
            <a:srgbClr val="39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58191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Segment × Age × Spending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75688"/>
            <a:ext cx="2926079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Premium customers in the 30–45 age group spent the most, according to the 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33756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2971800"/>
          </a:xfrm>
          <a:prstGeom prst="rect">
            <a:avLst/>
          </a:prstGeom>
          <a:solidFill>
            <a:srgbClr val="E8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58191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Shipping × Delivery × 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75688"/>
            <a:ext cx="2926079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The source reports longer standard-shipping delivery times associated with higher return probability.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3564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2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t>13. Skewness &amp; Kurtosis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Understanding the shape of transaction distributions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20574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Skewness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470915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Positive skew was observed in product_price and final_price. The source interprets this as many small-to-medium transactions with fewer large transactions.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73152" cy="2057400"/>
          </a:xfrm>
          <a:prstGeom prst="rect">
            <a:avLst/>
          </a:prstGeom>
          <a:solidFill>
            <a:srgbClr val="E8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8191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Kurtosis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75688"/>
            <a:ext cx="470915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High kurtosis in final_price indicates heavy tails and the presence of extreme high-value purchases.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These measures help identify distribution asymmetry, extreme purchase behavior and potential business risk areas.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3564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2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t>14. Revenue &amp; Sales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Additional business-focused analysis in the Python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Total revenue is calculated as the sum of final_price.</a:t>
            </a:r>
          </a:p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Average and median transaction values are calculated.</a:t>
            </a:r>
          </a:p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Revenue is grouped by product category and customer segment.</a:t>
            </a:r>
          </a:p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Monthly and yearly revenue are derived from order_date.</a:t>
            </a:r>
          </a:p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Discount percentage is compared with average final price.</a:t>
            </a:r>
          </a:p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Quantity is compared with average final price.</a:t>
            </a:r>
          </a:p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Payment methods are analyzed using transaction count, total revenue and average transaction value.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2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t>15. Customer &amp; Product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Exploring customers, age and frequently purchased subcategories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196596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Customer 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29967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A histogram is used to understand the distribution of customer 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73152" cy="1965960"/>
          </a:xfrm>
          <a:prstGeom prst="rect">
            <a:avLst/>
          </a:prstGeom>
          <a:solidFill>
            <a:srgbClr val="39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5361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Top Subcategories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29967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The project counts product subcategories and displays the top 10.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7160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371600"/>
            <a:ext cx="73152" cy="1965960"/>
          </a:xfrm>
          <a:prstGeom prst="rect">
            <a:avLst/>
          </a:prstGeom>
          <a:solidFill>
            <a:srgbClr val="40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5361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D"/>
                </a:solidFill>
              </a:defRPr>
            </a:pPr>
            <a:r>
              <a:t>Payment 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29967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7"/>
                </a:solidFill>
              </a:defRPr>
            </a:pPr>
            <a:r>
              <a:t>Transactions, revenue and average transaction value are compared by payment method.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4048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These analyses add business context to the statistical findings and help organize the data into actionable categories.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83564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2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t>16.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What the source project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The revenue distribution is right-skewed.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Revenue is driven by a limited number of high-value transactions.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Moderate discounts are reported to maximize spending.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Outliers can represent genuine premium purchases rather than errors.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Return probability increases slightly with longer delivery times.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The analysis provides a foundation for further predictive modeling and business decision-making.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2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t>17.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Overall project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Univariate analysis described individual variable distributions.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Bivariate analysis explored relationships between pairs of variables.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Multivariate analysis examined interactions across multiple business factors.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Correlation analysis, outlier detection, skewness and kurtosis added statistical depth.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The project combines Python, statistical techniques and visualization to turn retail transaction data into structured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166360"/>
            <a:ext cx="10287000" cy="594360"/>
          </a:xfrm>
          <a:prstGeom prst="round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5303520"/>
            <a:ext cx="9884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Pandas  •  NumPy  •  Matplotlib  •  Seaborn  •  SciPy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3564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2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1700">
                <a:solidFill>
                  <a:srgbClr val="39AEC9"/>
                </a:solidFill>
              </a:defRPr>
            </a:pPr>
            <a:r>
              <a:t>Exploratory Data Analysis of Large-Scale Retail Transaction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NextHikes IT Solutions</a:t>
            </a:r>
          </a:p>
          <a:p>
            <a:pPr algn="ctr">
              <a:defRPr sz="1500">
                <a:solidFill>
                  <a:srgbClr val="CDD6E4"/>
                </a:solidFill>
              </a:defRPr>
            </a:pPr>
            <a:r>
              <a:t>Aditya Tambe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1299</Words>
  <Application>Microsoft Office PowerPoint</Application>
  <PresentationFormat>Widescreen</PresentationFormat>
  <Paragraphs>181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ADITYA TAMBE</dc:creator>
  <cp:keywords/>
  <dc:description>generated using python-pptx</dc:description>
  <cp:lastModifiedBy>ADITYA TAMBE</cp:lastModifiedBy>
  <cp:revision>2</cp:revision>
  <dcterms:created xsi:type="dcterms:W3CDTF">2013-01-27T09:14:16Z</dcterms:created>
  <dcterms:modified xsi:type="dcterms:W3CDTF">2026-09-25T17:51:04Z</dcterms:modified>
  <cp:category/>
</cp:coreProperties>
</file>